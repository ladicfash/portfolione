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73A"/>
                </a:solidFill>
              </a:rPr>
              <a:t>N2N SERVICES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ELOS 2036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7922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D0D7E3"/>
                </a:solidFill>
              </a:rPr>
              <a:t>Emotional Labor Operating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Landscape,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&amp; Market Positioning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C"/>
                </a:solidFill>
              </a:rPr>
              <a:t>A plain-language review of what exists today versus what ELOS would offer tomorrow.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C"/>
                </a:solidFill>
              </a:rPr>
              <a:t>All ELOS figures are hypothetical and for illustrative purposes only.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407408"/>
            <a:ext cx="2560320" cy="36576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26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C"/>
                </a:solidFill>
              </a:rPr>
              <a:t>Prepared by N2N Services  |  February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82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4AC"/>
                </a:solidFill>
              </a:rPr>
              <a:t>This document presents a hypothetical product concept. All competitor data sourced from publicly available information as of Q1 2026.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0279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3A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828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N2N Services  |  ELOS — Emotional Labor OS  |  Hypothetical Concept  | 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61872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1353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The Problem in Plain English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68249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C"/>
                </a:solidFill>
              </a:rPr>
              <a:t>What emotional labor is and why it costs companies so much money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28032" y="126187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8032" y="1261872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9824" y="1353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What Tools Already Exist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49824" y="168249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C"/>
                </a:solidFill>
              </a:rPr>
              <a:t>A look at five real products on the market today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148840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22402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How ELOS Would Be Different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56946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C"/>
                </a:solidFill>
              </a:rPr>
              <a:t>What ELOS does that nothing else currently does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1488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2148840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9824" y="22402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Side-by-Side Comparison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49824" y="256946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C"/>
                </a:solidFill>
              </a:rPr>
              <a:t>All five competitors vs. ELOS in one clear table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03580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035808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3127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78992" y="31272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How Much Would It Cost?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45643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C"/>
                </a:solidFill>
              </a:rPr>
              <a:t>Estimated pricing for ELOS vs. current market rates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28032" y="303580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3035808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127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9824" y="31272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Summary &amp; Key Takeaways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49824" y="345643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C"/>
                </a:solidFill>
              </a:rPr>
              <a:t>Four things to remember from this presentation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0" y="3922776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0" y="3922776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14016" y="40142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907792" y="401421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Sources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2907792" y="43434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C"/>
                </a:solidFill>
              </a:rPr>
              <a:t>Every number and fact cited with its origin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0279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3A"/>
                </a:solidFill>
              </a:rPr>
              <a:t>SECTION 01  |  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Emotional Labor — And Why Does It Matter?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828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N2N Services  |  ELOS — Emotional Labor OS  |  Hypothetical Concept  | 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Think of it this way.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3E5A"/>
                </a:solidFill>
              </a:rPr>
              <a:t>When your manager calms down a frustrated coworker, patches up a conflict, or keeps team morale up after bad news — that is emotional labor. It is real work, it takes real time, and it burns people out.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3E5A"/>
                </a:solidFill>
              </a:rPr>
              <a:t>The problem: no company measures it, no HR tool tracks it, and no technology has ever been built to help — until now.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261872"/>
            <a:ext cx="38404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61872"/>
            <a:ext cx="54864" cy="104241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5331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14264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</a:rPr>
              <a:t>of the average workday is spent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</a:rPr>
              <a:t>managing others' emotions at work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432304"/>
            <a:ext cx="38404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32304"/>
            <a:ext cx="54864" cy="1042416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52374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$322B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00800" y="25968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</a:rPr>
              <a:t>lost every year by US companies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2907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</a:rPr>
              <a:t>due to burnout and disengagement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3602736"/>
            <a:ext cx="38404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602736"/>
            <a:ext cx="54864" cy="10424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69417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00800" y="3767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</a:rPr>
              <a:t>of managers say emotional strain is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4078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</a:rPr>
              <a:t>their single biggest daily stressor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0279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3A"/>
                </a:solidFill>
              </a:rPr>
              <a:t>SECTION 02  |  EXISTING TOOLS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Products Available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828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N2N Services  |  ELOS — Emotional Labor OS  |  Hypothetical Concept  | 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216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A"/>
                </a:solidFill>
              </a:rPr>
              <a:t>These are real tools companies use today for employee wellbeing and sentiment — none do what ELOS proposes, but they come closest.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64208"/>
            <a:ext cx="269748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7393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Microsoft Viva Glint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04825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2E86AB"/>
                </a:solidFill>
              </a:rPr>
              <a:t>Employee Survey Tool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258568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A"/>
                </a:solidFill>
              </a:rPr>
              <a:t>Sends surveys to employees and shows HR managers the results — like a digital poll that tracks how happy or stressed people feel at work.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852928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94AC"/>
                </a:solidFill>
              </a:rPr>
              <a:t>Cost: From $2/user/month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166420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664208"/>
            <a:ext cx="26974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77393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Culture Amp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04825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B2A4A"/>
                </a:solidFill>
              </a:rPr>
              <a:t>Engagement &amp; Coaching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58568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A"/>
                </a:solidFill>
              </a:rPr>
              <a:t>Collects feedback and uses AI to coach managers with suggestions. Helps after problems have already been reported by employees.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852928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94AC"/>
                </a:solidFill>
              </a:rPr>
              <a:t>Cost: Est. $5–8/user/month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166420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664208"/>
            <a:ext cx="2697480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77393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Qualtrics EmployeeXM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04825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C8973A"/>
                </a:solidFill>
              </a:rPr>
              <a:t>Enterprise Analytics Suite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258568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A"/>
                </a:solidFill>
              </a:rPr>
              <a:t>A powerful data tool that large companies use to analyze employee experience at scale. Best for those that need detailed reports.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2852928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94AC"/>
                </a:solidFill>
              </a:rPr>
              <a:t>Cost: Enterprise: $50K–$200K+/year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83080" y="3182112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783080" y="3182112"/>
            <a:ext cx="269748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329184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Leapsome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20240" y="356616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2E86AB"/>
                </a:solidFill>
              </a:rPr>
              <a:t>Performance &amp; Engagement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0240" y="37764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A"/>
                </a:solidFill>
              </a:rPr>
              <a:t>Combines surveys, performance reviews, and goal-tracking in one place. Helps managers see patterns over time.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20240" y="4370832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94AC"/>
                </a:solidFill>
              </a:rPr>
              <a:t>Cost: From $7/user/month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3182112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3182112"/>
            <a:ext cx="26974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29184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Wellbeing.ai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356616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C0392B"/>
                </a:solidFill>
              </a:rPr>
              <a:t>Emotional State Detection Tool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7764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3E5A"/>
                </a:solidFill>
              </a:rPr>
              <a:t>Uses facial analytics to track employee emotions across 62 categories. The most similar to ELOS — but raises significant privacy concerns.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0" y="4370832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94AC"/>
                </a:solidFill>
              </a:rPr>
              <a:t>Cost: Not publicly disclosed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0279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3A"/>
                </a:solidFill>
              </a:rPr>
              <a:t>SECTION 03  |  THE ELOS DIFFERENCE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ELOS Does That Nothing Else Currently Does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828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N2N Services  |  ELOS — Emotional Labor OS  |  Hypothetical Concept  | 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385876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THE WORLD TODAY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28032" y="1207008"/>
            <a:ext cx="3858768" cy="38404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0700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WITH ELOS (HYPOTHETICAL)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00784"/>
            <a:ext cx="3858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700784"/>
            <a:ext cx="45720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792224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Companies learn about a conflict after it has already damaged a relationship or caused someone to quit.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52544" y="190195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4AC"/>
                </a:solidFill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28032" y="1700784"/>
            <a:ext cx="3858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1700784"/>
            <a:ext cx="45720" cy="676656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2624" y="1792224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ELOS detects rising tension before a conversation happens and gives managers a heads-up in advance.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3858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68880"/>
            <a:ext cx="45720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56032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Managers are expected to notice burnout — but they are busy and the warning signs are easy to miss.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52544" y="26700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4AC"/>
                </a:solidFill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28032" y="2468880"/>
            <a:ext cx="3858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2468880"/>
            <a:ext cx="45720" cy="676656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56032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ELOS watches communication patterns and flags when someone's behavior shifts in a way that signals burnout.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236976"/>
            <a:ext cx="3858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236976"/>
            <a:ext cx="45720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328416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HR surveys ask how you felt last month. By the time results come back, the problem has gotten worse.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52544" y="343814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4AC"/>
                </a:solidFill>
              </a:rPr>
              <a:t>&gt;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828032" y="3236976"/>
            <a:ext cx="3858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3236976"/>
            <a:ext cx="45720" cy="676656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3328416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ELOS works in near real-time. Problems appear the week they start — not months later.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005072"/>
            <a:ext cx="3858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005072"/>
            <a:ext cx="45720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096512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Most tools track what employees say. They miss tone, silence, and avoidance — the unspoken signals.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52544" y="420624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94AC"/>
                </a:solidFill>
              </a:rPr>
              <a:t>&gt;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828032" y="4005072"/>
            <a:ext cx="38587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4005072"/>
            <a:ext cx="45720" cy="676656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4096512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ELOS reads patterns — response delays, shorter messages, skipped meetings — not message content.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0279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3A"/>
                </a:solidFill>
              </a:rPr>
              <a:t>SECTION 04  |  SIDE-BY-SIDE 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ELOS Compares to Tools Available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828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N2N Services  |  ELOS — Emotional Labor OS  |  Hypothetical Concept  | 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94AC"/>
                </a:solidFill>
              </a:rPr>
              <a:t>Each column is a real product (or ELOS, which is hypothetical). Each row is a capability. Green = yes, Red = no, Yellow = partial.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254203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179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Capability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1517904"/>
            <a:ext cx="1042416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517904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MS Viva Glint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0" y="1517904"/>
            <a:ext cx="1042416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517904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Culture Amp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02352" y="1517904"/>
            <a:ext cx="923544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517904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Qualtrics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62472" y="1517904"/>
            <a:ext cx="923544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1517904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Leapsome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22592" y="1517904"/>
            <a:ext cx="969264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51790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Wellbeing.ai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28432" y="1517904"/>
            <a:ext cx="950976" cy="38404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151790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ELOS (Hyp.)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1938528"/>
            <a:ext cx="2542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193852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A"/>
                </a:solidFill>
              </a:rPr>
              <a:t>Detects problems in real 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44368" y="1938528"/>
            <a:ext cx="1042416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193852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23360" y="1938528"/>
            <a:ext cx="1042416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78224" y="193852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02352" y="1938528"/>
            <a:ext cx="92354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57216" y="1938528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62472" y="1938528"/>
            <a:ext cx="92354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1938528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22592" y="1938528"/>
            <a:ext cx="96926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7456" y="193852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28432" y="1938528"/>
            <a:ext cx="950976" cy="384048"/>
          </a:xfrm>
          <a:prstGeom prst="rect">
            <a:avLst/>
          </a:prstGeom>
          <a:solidFill>
            <a:srgbClr val="D5F0E0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83296" y="1938528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2354580"/>
            <a:ext cx="2542032" cy="384048"/>
          </a:xfrm>
          <a:prstGeom prst="rect">
            <a:avLst/>
          </a:prstGeom>
          <a:solidFill>
            <a:srgbClr val="EEF1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235458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A"/>
                </a:solidFill>
              </a:rPr>
              <a:t>Works without employees filling out surveys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44368" y="2354580"/>
            <a:ext cx="1042416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9232" y="235458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23360" y="2354580"/>
            <a:ext cx="1042416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78224" y="235458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02352" y="2354580"/>
            <a:ext cx="92354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57216" y="235458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2354580"/>
            <a:ext cx="92354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17336" y="235458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22592" y="2354580"/>
            <a:ext cx="96926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7456" y="23545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28432" y="2354580"/>
            <a:ext cx="950976" cy="384048"/>
          </a:xfrm>
          <a:prstGeom prst="rect">
            <a:avLst/>
          </a:prstGeom>
          <a:solidFill>
            <a:srgbClr val="D5F0E0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83296" y="235458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2770632"/>
            <a:ext cx="2542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277063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A"/>
                </a:solidFill>
              </a:rPr>
              <a:t>Reads behavior patterns, not message text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44368" y="2770632"/>
            <a:ext cx="1042416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9232" y="277063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023360" y="2770632"/>
            <a:ext cx="1042416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78224" y="277063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102352" y="2770632"/>
            <a:ext cx="92354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57216" y="2770632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62472" y="2770632"/>
            <a:ext cx="92354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17336" y="2770632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22592" y="2770632"/>
            <a:ext cx="96926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77456" y="277063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28432" y="2770632"/>
            <a:ext cx="950976" cy="384048"/>
          </a:xfrm>
          <a:prstGeom prst="rect">
            <a:avLst/>
          </a:prstGeom>
          <a:solidFill>
            <a:srgbClr val="D5F0E0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83296" y="27706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5760" y="3186684"/>
            <a:ext cx="2542032" cy="384048"/>
          </a:xfrm>
          <a:prstGeom prst="rect">
            <a:avLst/>
          </a:prstGeom>
          <a:solidFill>
            <a:srgbClr val="EEF1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" y="318668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A"/>
                </a:solidFill>
              </a:rPr>
              <a:t>Helps managers respond in the moment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944368" y="3186684"/>
            <a:ext cx="1042416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99232" y="318668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023360" y="3186684"/>
            <a:ext cx="1042416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78224" y="318668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102352" y="3186684"/>
            <a:ext cx="92354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57216" y="3186684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062472" y="3186684"/>
            <a:ext cx="92354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17336" y="3186684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022592" y="3186684"/>
            <a:ext cx="96926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77456" y="3186684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028432" y="3186684"/>
            <a:ext cx="950976" cy="384048"/>
          </a:xfrm>
          <a:prstGeom prst="rect">
            <a:avLst/>
          </a:prstGeom>
          <a:solidFill>
            <a:srgbClr val="D5F0E0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83296" y="318668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65760" y="3602736"/>
            <a:ext cx="2542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" y="360273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A"/>
                </a:solidFill>
              </a:rPr>
              <a:t>Protects employee privacy by design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944368" y="3602736"/>
            <a:ext cx="1042416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999232" y="3602736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023360" y="3602736"/>
            <a:ext cx="1042416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78224" y="3602736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102352" y="3602736"/>
            <a:ext cx="92354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57216" y="3602736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062472" y="3602736"/>
            <a:ext cx="923544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17336" y="3602736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022592" y="3602736"/>
            <a:ext cx="96926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77456" y="3602736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8028432" y="3602736"/>
            <a:ext cx="950976" cy="384048"/>
          </a:xfrm>
          <a:prstGeom prst="rect">
            <a:avLst/>
          </a:prstGeom>
          <a:solidFill>
            <a:srgbClr val="D5F0E0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83296" y="360273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65760" y="4018788"/>
            <a:ext cx="2542032" cy="384048"/>
          </a:xfrm>
          <a:prstGeom prst="rect">
            <a:avLst/>
          </a:prstGeom>
          <a:solidFill>
            <a:srgbClr val="EEF1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0624" y="401878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A"/>
                </a:solidFill>
              </a:rPr>
              <a:t>Learns your organization over time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944368" y="4018788"/>
            <a:ext cx="1042416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999232" y="401878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023360" y="4018788"/>
            <a:ext cx="1042416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078224" y="401878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102352" y="4018788"/>
            <a:ext cx="92354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57216" y="4018788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062472" y="4018788"/>
            <a:ext cx="92354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17336" y="4018788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022592" y="4018788"/>
            <a:ext cx="96926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077456" y="401878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8028432" y="4018788"/>
            <a:ext cx="950976" cy="384048"/>
          </a:xfrm>
          <a:prstGeom prst="rect">
            <a:avLst/>
          </a:prstGeom>
          <a:solidFill>
            <a:srgbClr val="D5F0E0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83296" y="4018788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365760" y="4434840"/>
            <a:ext cx="2542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0624" y="44348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A"/>
                </a:solidFill>
              </a:rPr>
              <a:t>Works in tools staff already use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2944368" y="4434840"/>
            <a:ext cx="1042416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999232" y="443484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023360" y="4434840"/>
            <a:ext cx="1042416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78224" y="443484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5102352" y="4434840"/>
            <a:ext cx="923544" cy="384048"/>
          </a:xfrm>
          <a:prstGeom prst="rect">
            <a:avLst/>
          </a:prstGeom>
          <a:solidFill>
            <a:srgbClr val="FEF8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157216" y="443484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73A"/>
                </a:solidFill>
              </a:rPr>
              <a:t>Partial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6062472" y="4434840"/>
            <a:ext cx="923544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117336" y="443484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7022592" y="4434840"/>
            <a:ext cx="969264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077456" y="443484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No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8028432" y="4434840"/>
            <a:ext cx="950976" cy="384048"/>
          </a:xfrm>
          <a:prstGeom prst="rect">
            <a:avLst/>
          </a:prstGeom>
          <a:solidFill>
            <a:srgbClr val="D5F0E0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083296" y="443484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4A"/>
                </a:solidFill>
              </a:rPr>
              <a:t>Yes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0279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3A"/>
                </a:solidFill>
              </a:rPr>
              <a:t>SECTION 05  |  COST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Would This Cost?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828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N2N Services  |  ELOS — Emotional Labor OS  |  Hypothetical Concept  | 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94AC"/>
                </a:solidFill>
              </a:rPr>
              <a:t>All ELOS pricing is estimated and hypothetical. Competitor prices are sourced from publicly available data as of Q1 2026.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15361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36192"/>
            <a:ext cx="1536192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276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MS Viva Glint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23591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4AC"/>
                </a:solidFill>
              </a:rPr>
              <a:t>per user / month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5786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4AC"/>
                </a:solidFill>
              </a:rPr>
              <a:t>Requires Microsoft 365 license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93976" y="1536192"/>
            <a:ext cx="15361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93976" y="1536192"/>
            <a:ext cx="1536192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85416" y="16276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Leapsome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85416" y="192024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185416" y="23591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4AC"/>
                </a:solidFill>
              </a:rPr>
              <a:t>per user / month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85416" y="25786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4AC"/>
                </a:solidFill>
              </a:rPr>
              <a:t>Annual contract, modules vary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76472" y="1536192"/>
            <a:ext cx="15361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76472" y="1536192"/>
            <a:ext cx="1536192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67912" y="16276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Culture Amp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67912" y="192024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867912" y="23591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4AC"/>
                </a:solidFill>
              </a:rPr>
              <a:t>per user / month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67912" y="25786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4AC"/>
                </a:solidFill>
              </a:rPr>
              <a:t>Custom quote required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58968" y="1536192"/>
            <a:ext cx="15361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58968" y="1536192"/>
            <a:ext cx="1536192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0408" y="16276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Qualtrics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0408" y="192024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$50K+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50408" y="23591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4AC"/>
                </a:solidFill>
              </a:rPr>
              <a:t>per year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50408" y="25786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4AC"/>
                </a:solidFill>
              </a:rPr>
              <a:t>Enterprise tier, 1,000+ employees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41464" y="1536192"/>
            <a:ext cx="15361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41464" y="1536192"/>
            <a:ext cx="1536192" cy="45720"/>
          </a:xfrm>
          <a:prstGeom prst="rect">
            <a:avLst/>
          </a:prstGeom>
          <a:solidFill>
            <a:srgbClr val="8494AC"/>
          </a:solidFill>
          <a:ln w="12700">
            <a:solidFill>
              <a:srgbClr val="8494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32904" y="16276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Wellbeing.ai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32904" y="192024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232904" y="23591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4AC"/>
                </a:solidFill>
              </a:rPr>
              <a:t>not disclosed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32904" y="257860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94AC"/>
                </a:solidFill>
              </a:rPr>
              <a:t>Partnership-based pricing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2907792"/>
            <a:ext cx="8321040" cy="1773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2907792"/>
            <a:ext cx="73152" cy="1773936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2999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973A"/>
                </a:solidFill>
              </a:rPr>
              <a:t>ELOS ESTIMATED PRICING  (HYPOTHETICAL)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9808" y="3310128"/>
            <a:ext cx="2523744" cy="1261872"/>
          </a:xfrm>
          <a:prstGeom prst="rect">
            <a:avLst/>
          </a:prstGeom>
          <a:solidFill>
            <a:srgbClr val="243759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Starter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86968" y="3639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886968" y="4078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C"/>
                </a:solidFill>
              </a:rPr>
              <a:t>/user/month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6968" y="4279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0D7E3"/>
                </a:solidFill>
              </a:rPr>
              <a:t>Up to 500 employees.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0D7E3"/>
                </a:solidFill>
              </a:rPr>
              <a:t>L1 sensing + basic dashboard.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310128"/>
            <a:ext cx="2523744" cy="1261872"/>
          </a:xfrm>
          <a:prstGeom prst="rect">
            <a:avLst/>
          </a:prstGeom>
          <a:solidFill>
            <a:srgbClr val="243759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0168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Growth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30168" y="3639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3630168" y="4078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C"/>
                </a:solidFill>
              </a:rPr>
              <a:t>/user/month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30168" y="4279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0D7E3"/>
                </a:solidFill>
              </a:rPr>
              <a:t>Up to 2,000 employees.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0D7E3"/>
                </a:solidFill>
              </a:rPr>
              <a:t>Full L1–L3 + manager tools.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36208" y="3310128"/>
            <a:ext cx="2523744" cy="1261872"/>
          </a:xfrm>
          <a:prstGeom prst="rect">
            <a:avLst/>
          </a:prstGeom>
          <a:solidFill>
            <a:srgbClr val="243759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73368" y="3639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6373368" y="40782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C"/>
                </a:solidFill>
              </a:rPr>
              <a:t>annual contract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73368" y="4279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0D7E3"/>
                </a:solidFill>
              </a:rPr>
              <a:t>2,000+ employees.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0D7E3"/>
                </a:solidFill>
              </a:rPr>
              <a:t>All layers, dedicated support.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0279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3A"/>
                </a:solidFill>
              </a:rPr>
              <a:t>SECTION 06  | 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Remember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828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N2N Services  |  ELOS — Emotional Labor OS  |  Hypothetical Concept  | 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406908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399032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</a:rPr>
              <a:t>Emotional labor is a real, measurable cost.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18928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Roughly 23% of the workday goes toward managing stress, conflict, and morale — costing US companies $322 billion a year in burnout and lost productivity.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234440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234440"/>
            <a:ext cx="40690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5192" y="1399032"/>
            <a:ext cx="365760" cy="3657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1417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</a:rPr>
              <a:t>Today's tools react. They do not prevent.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18928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Viva Glint, Culture Amp, Qualtrics, and Leapsome all work by asking employees how they feel, then showing HR a chart. They respond to problems that already exist.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4495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44952"/>
            <a:ext cx="4069080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209544"/>
            <a:ext cx="365760" cy="36576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</a:rPr>
              <a:t>ELOS reads behavior — not messages.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Wellbeing.ai, the closest competitor, reads facial expressions — a serious privacy risk. ELOS would only look at patterns: slower replies, missed meetings, shorter messages.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04495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044952"/>
            <a:ext cx="406908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65192" y="3209544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</a:rPr>
              <a:t>The price is higher because it does more.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65192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E5A"/>
                </a:solidFill>
              </a:rPr>
              <a:t>Current tools cost $2 to $8 per person per month. ELOS would cost $12 to $18 — but it would be the only product that detects and resolves problems before they become crises.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0279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3A"/>
                </a:solidFill>
              </a:rPr>
              <a:t>SECTION 07  |  SOURCES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and Data Sources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828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N2N Services  |  ELOS — Emotional Labor OS  |  Hypothetical Concept  | 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0D7E3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94AC"/>
                </a:solidFill>
              </a:rPr>
              <a:t>All statistics and competitor data referenced in this presentation are sourced below. ELOS pricing, features, and projections are entirely hypothetical.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73352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6112" y="15910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Gallup. (2024). State of the Global Workplace Report. Gallup Press. Source of 23% emotional labor time estimate and employee engagement figure.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85416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40864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6112" y="2258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Deloitte. (2023). Workplace Burnout Survey. Deloitte Insights. Source of $322 billion annual cost attributed to burnout and emotional strain.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85292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08376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6112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McKinsey &amp; Company. (2024). Women in the Workplace Report. McKinsey Global Institute. Source of 58% manager emotional labor stressor statistic.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75888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6112" y="3593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Microsoft. (2025). Microsoft Viva Pricing Page. microsoft.com/viva — Viva Glint from $2/user/month. Viva Suite at $12/user/month.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18795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343400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6112" y="42611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Select Software Reviews. (Q1 2026). Best Employee Engagement Software Buyer Guide. selectsoftwarereviews.com — Leapsome: from $7/user/month.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1517904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1673352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5232" y="15910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HR Cloud. (2025). Top 10 Employee Survey Platforms. hrcloud.com — Qualtrics enterprise range: $50,000–$200,000+ annually.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2185416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2340864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85232" y="2258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The Conversation. (November 2025). "AI is providing emotional support for employees — but is it a privacy threat?" theconversation.com — Wellbeing.ai description and 62-category tracking.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285292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3008376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85232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IBM Think. (November 2025). "The workplace learns to feel: Emotional AI enters the enterprise." ibm.com/think — Stanford research on AI agents in Slack.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3520440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3675888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85232" y="3593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McKinsey &amp; Company. (January 2025). "Superagency in the Workplace." mckinsey.com — AI capability maturity and workplace adoption trends.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418795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4343400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5232" y="42611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A"/>
                </a:solidFill>
              </a:rPr>
              <a:t>TechClass. (February 2026). "AI and Emotional Intelligence: Can Tech Support More Empathetic Workplaces?" — 76% of Gen Z workers use AI chatbots for workplace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N2N 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7E3"/>
                </a:solidFill>
              </a:rPr>
              <a:t>Emotional Labor Operating System  |  ELOS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926080" cy="36576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494AC"/>
                </a:solidFill>
              </a:rPr>
              <a:t>For questions, partnership inquiries,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494AC"/>
                </a:solidFill>
              </a:rPr>
              <a:t>and pilot program interest: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221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973A"/>
                </a:solidFill>
              </a:rPr>
              <a:t>elos@n2nservices.com  |  n2nservices.com  |  #FutureOfWork2036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82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4AC"/>
                </a:solidFill>
              </a:rPr>
              <a:t>This document contains hypothetical projections for illustrative purposes only. All competitor data sourced from publicly available information as of Q1 2026.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ELOS by N2N Services — Competitive Analysis &amp; Market Positioning</dc:title>
  <dc:subject>PptxGenJS Presentation</dc:subject>
  <dc:creator>PptxGenJS</dc:creator>
  <cp:lastModifiedBy>PptxGenJS</cp:lastModifiedBy>
  <cp:revision>1</cp:revision>
  <dcterms:created xsi:type="dcterms:W3CDTF">2026-02-24T04:20:55Z</dcterms:created>
  <dcterms:modified xsi:type="dcterms:W3CDTF">2026-02-24T04:20:55Z</dcterms:modified>
</cp:coreProperties>
</file>